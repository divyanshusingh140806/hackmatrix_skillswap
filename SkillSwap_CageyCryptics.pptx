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80C07D-7C5D-4E86-8563-88858CA68C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480" cy="596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835EDE-CCCB-4CF7-BD40-376D17A98B4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9144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DB073A-8F48-4FB5-8025-1E28388BFD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835A42-CC6A-4604-987F-F7E99A171C1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4EE682-5BAA-449E-8DF2-08A13A5755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5D4794-E127-4A5B-B7E3-6E3A803F71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0A82C8-91A5-4525-946C-E0CB745182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48BCB1-B1C6-42A9-A055-2CC5F4CE2F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B58C16-3980-4607-93DF-4D0C1F905A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DCC64E-8379-4C66-8833-232D5C0C91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871E28-6163-4B84-8FB9-98913741FE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Freeform 2"/>
          <p:cNvSpPr/>
          <p:nvPr/>
        </p:nvSpPr>
        <p:spPr>
          <a:xfrm>
            <a:off x="-11520" y="0"/>
            <a:ext cx="18287280" cy="10286280"/>
          </a:xfrm>
          <a:custGeom>
            <a:avLst/>
            <a:gdLst>
              <a:gd name="textAreaLeft" fmla="*/ 0 w 18287280"/>
              <a:gd name="textAreaRight" fmla="*/ 18288000 w 18287280"/>
              <a:gd name="textAreaTop" fmla="*/ 0 h 10286280"/>
              <a:gd name="textAreaBottom" fmla="*/ 10287000 h 102862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3"/>
          <p:cNvGrpSpPr/>
          <p:nvPr/>
        </p:nvGrpSpPr>
        <p:grpSpPr>
          <a:xfrm>
            <a:off x="1153800" y="2541600"/>
            <a:ext cx="16229880" cy="302040"/>
            <a:chOff x="1153800" y="2541600"/>
            <a:chExt cx="16229880" cy="302040"/>
          </a:xfrm>
        </p:grpSpPr>
        <p:sp>
          <p:nvSpPr>
            <p:cNvPr id="63" name="Freeform 4"/>
            <p:cNvSpPr/>
            <p:nvPr/>
          </p:nvSpPr>
          <p:spPr>
            <a:xfrm>
              <a:off x="1153800" y="2694240"/>
              <a:ext cx="16229880" cy="149400"/>
            </a:xfrm>
            <a:custGeom>
              <a:avLst/>
              <a:gdLst>
                <a:gd name="textAreaLeft" fmla="*/ 0 w 16229880"/>
                <a:gd name="textAreaRight" fmla="*/ 16230600 w 16229880"/>
                <a:gd name="textAreaTop" fmla="*/ 0 h 149400"/>
                <a:gd name="textAreaBottom" fmla="*/ 150120 h 149400"/>
              </a:gdLst>
              <a:ahLst/>
              <a:cxnLst/>
              <a:rect l="textAreaLeft" t="textAreaTop" r="textAreaRight" b="textAreaBottom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0">
              <a:gsLst>
                <a:gs pos="0">
                  <a:srgbClr val="FFC4E1">
                    <a:alpha val="0"/>
                  </a:srgbClr>
                </a:gs>
                <a:gs pos="25000">
                  <a:srgbClr val="C4FBFF"/>
                </a:gs>
                <a:gs pos="50000">
                  <a:srgbClr val="DAFCFF"/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5"/>
            <p:cNvSpPr/>
            <p:nvPr/>
          </p:nvSpPr>
          <p:spPr>
            <a:xfrm>
              <a:off x="1153800" y="2541600"/>
              <a:ext cx="16229880" cy="30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tIns="50760" rIns="50760" bIns="5076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5" name="Freeform 6"/>
          <p:cNvSpPr/>
          <p:nvPr/>
        </p:nvSpPr>
        <p:spPr>
          <a:xfrm>
            <a:off x="633240" y="575280"/>
            <a:ext cx="2130840" cy="1004040"/>
          </a:xfrm>
          <a:custGeom>
            <a:avLst/>
            <a:gdLst>
              <a:gd name="textAreaLeft" fmla="*/ 0 w 2130840"/>
              <a:gd name="textAreaRight" fmla="*/ 2131560 w 2130840"/>
              <a:gd name="textAreaTop" fmla="*/ 0 h 1004040"/>
              <a:gd name="textAreaBottom" fmla="*/ 1004760 h 1004040"/>
            </a:gdLst>
            <a:ahLst/>
            <a:cxnLst/>
            <a:rect l="textAreaLeft" t="textAreaTop" r="textAreaRight" b="textAreaBottom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7"/>
          <p:cNvSpPr/>
          <p:nvPr/>
        </p:nvSpPr>
        <p:spPr>
          <a:xfrm>
            <a:off x="15978600" y="-269280"/>
            <a:ext cx="2475000" cy="2475000"/>
          </a:xfrm>
          <a:custGeom>
            <a:avLst/>
            <a:gdLst>
              <a:gd name="textAreaLeft" fmla="*/ 0 w 2475000"/>
              <a:gd name="textAreaRight" fmla="*/ 2475720 w 2475000"/>
              <a:gd name="textAreaTop" fmla="*/ 0 h 2475000"/>
              <a:gd name="textAreaBottom" fmla="*/ 2475720 h 2475000"/>
            </a:gdLst>
            <a:ahLst/>
            <a:cxnLst/>
            <a:rect l="textAreaLeft" t="textAreaTop" r="textAreaRight" b="textAreaBottom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8"/>
          <p:cNvSpPr/>
          <p:nvPr/>
        </p:nvSpPr>
        <p:spPr>
          <a:xfrm>
            <a:off x="3760920" y="365760"/>
            <a:ext cx="11532600" cy="10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9060"/>
              </a:lnSpc>
            </a:pPr>
            <a:r>
              <a:rPr lang="en-US" sz="6000" b="1" u="none" spc="-215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HACK MATRIX HACKATHON </a:t>
            </a:r>
            <a:endParaRPr lang="en-IN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9"/>
          <p:cNvSpPr/>
          <p:nvPr/>
        </p:nvSpPr>
        <p:spPr>
          <a:xfrm>
            <a:off x="6695640" y="1687680"/>
            <a:ext cx="498420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6945"/>
              </a:lnSpc>
            </a:pPr>
            <a:r>
              <a:rPr lang="en-US" sz="4600" b="1" u="none" spc="-164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TITLE PAGE</a:t>
            </a:r>
            <a:endParaRPr lang="en-IN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0"/>
          <p:cNvSpPr/>
          <p:nvPr/>
        </p:nvSpPr>
        <p:spPr>
          <a:xfrm>
            <a:off x="486000" y="3568680"/>
            <a:ext cx="4028040" cy="6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690840" lvl="1" indent="-345600" defTabSz="914400">
              <a:lnSpc>
                <a:spcPts val="4830"/>
              </a:lnSpc>
              <a:buClr>
                <a:srgbClr val="FFFFFF"/>
              </a:buClr>
              <a:buFont typeface="Arial"/>
              <a:buChar char="•"/>
            </a:pPr>
            <a:r>
              <a:rPr lang="en-US" sz="3200" b="1" u="none" spc="-116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PROJECT TITLE : 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1"/>
          <p:cNvSpPr/>
          <p:nvPr/>
        </p:nvSpPr>
        <p:spPr>
          <a:xfrm>
            <a:off x="476640" y="5243040"/>
            <a:ext cx="3415680" cy="6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690840" lvl="1" indent="-345600" defTabSz="914400">
              <a:lnSpc>
                <a:spcPts val="4830"/>
              </a:lnSpc>
              <a:buClr>
                <a:srgbClr val="FFFFFF"/>
              </a:buClr>
              <a:buFont typeface="Arial"/>
              <a:buChar char="•"/>
            </a:pPr>
            <a:r>
              <a:rPr lang="en-US" sz="3200" b="1" u="none" spc="-116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TEAM NAME : 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2"/>
          <p:cNvSpPr/>
          <p:nvPr/>
        </p:nvSpPr>
        <p:spPr>
          <a:xfrm>
            <a:off x="486000" y="6919920"/>
            <a:ext cx="4230000" cy="6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690840" lvl="1" indent="-345600" defTabSz="914400">
              <a:lnSpc>
                <a:spcPts val="4830"/>
              </a:lnSpc>
              <a:buClr>
                <a:srgbClr val="FFFFFF"/>
              </a:buClr>
              <a:buFont typeface="Arial"/>
              <a:buChar char="•"/>
            </a:pPr>
            <a:r>
              <a:rPr lang="en-US" sz="3200" b="1" u="none" spc="-116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TEAM MEMBERS : 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12"/>
          <p:cNvSpPr/>
          <p:nvPr/>
        </p:nvSpPr>
        <p:spPr>
          <a:xfrm>
            <a:off x="4014000" y="3575880"/>
            <a:ext cx="4999680" cy="11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3600" b="1" u="none" strike="noStrike">
                <a:ln>
                  <a:solidFill>
                    <a:schemeClr val="accent5"/>
                  </a:solidFill>
                </a:ln>
                <a:solidFill>
                  <a:srgbClr val="FFFFFF"/>
                </a:solidFill>
                <a:effectLst/>
                <a:uFillTx/>
                <a:latin typeface="Calibri"/>
              </a:rPr>
              <a:t>SKILL SWAP BOARD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 15"/>
          <p:cNvSpPr/>
          <p:nvPr/>
        </p:nvSpPr>
        <p:spPr>
          <a:xfrm>
            <a:off x="4173120" y="5276160"/>
            <a:ext cx="429264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3600" b="1" u="none" strike="noStrike">
                <a:ln>
                  <a:solidFill>
                    <a:schemeClr val="accent5"/>
                  </a:solidFill>
                </a:ln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CAGEY CRYPTICS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17"/>
          <p:cNvSpPr/>
          <p:nvPr/>
        </p:nvSpPr>
        <p:spPr>
          <a:xfrm>
            <a:off x="4368600" y="6919920"/>
            <a:ext cx="10199520" cy="189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marL="690840" lvl="1" indent="-345600" defTabSz="914400">
              <a:lnSpc>
                <a:spcPts val="4830"/>
              </a:lnSpc>
              <a:buClr>
                <a:srgbClr val="FFFFFF"/>
              </a:buClr>
              <a:buFont typeface="Arial"/>
              <a:buChar char="•"/>
            </a:pPr>
            <a:r>
              <a:rPr lang="en-US" sz="3200" b="1" u="none" strike="noStrike">
                <a:ln>
                  <a:solidFill>
                    <a:schemeClr val="accent5"/>
                  </a:solidFill>
                </a:ln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DIVYANSHU SINGH — Reg. No. 25MIM10191      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0840" lvl="1" indent="-345600" defTabSz="914400">
              <a:lnSpc>
                <a:spcPts val="4830"/>
              </a:lnSpc>
              <a:buClr>
                <a:srgbClr val="FFFFFF"/>
              </a:buClr>
              <a:buFont typeface="Arial"/>
              <a:buChar char="•"/>
            </a:pPr>
            <a:r>
              <a:rPr lang="en-US" sz="3200" b="1" u="none" strike="noStrike">
                <a:ln>
                  <a:solidFill>
                    <a:schemeClr val="accent5"/>
                  </a:solidFill>
                </a:ln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UMANG KHANDELWAL — Reg. No. 25BSA10183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0840" lvl="1" indent="-345600" defTabSz="914400">
              <a:lnSpc>
                <a:spcPts val="4830"/>
              </a:lnSpc>
              <a:buClr>
                <a:srgbClr val="FFFFFF"/>
              </a:buClr>
              <a:buFont typeface="Arial"/>
              <a:buChar char="•"/>
            </a:pPr>
            <a:r>
              <a:rPr lang="en-US" sz="3200" b="1" u="none" strike="noStrike">
                <a:ln>
                  <a:solidFill>
                    <a:schemeClr val="accent5"/>
                  </a:solidFill>
                </a:ln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LAKSHYA NATH — Reg. No. 25BCY10109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Freeform 2"/>
          <p:cNvSpPr/>
          <p:nvPr/>
        </p:nvSpPr>
        <p:spPr>
          <a:xfrm>
            <a:off x="-12960" y="0"/>
            <a:ext cx="18287280" cy="10286280"/>
          </a:xfrm>
          <a:custGeom>
            <a:avLst/>
            <a:gdLst>
              <a:gd name="textAreaLeft" fmla="*/ 0 w 18287280"/>
              <a:gd name="textAreaRight" fmla="*/ 18288000 w 18287280"/>
              <a:gd name="textAreaTop" fmla="*/ 0 h 10286280"/>
              <a:gd name="textAreaBottom" fmla="*/ 10287000 h 102862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4291920" y="525600"/>
            <a:ext cx="815868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6999"/>
              </a:lnSpc>
            </a:pPr>
            <a:r>
              <a:rPr lang="en-US" sz="5000" b="1" u="none" spc="-400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PROBLEM   STATEMENT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4"/>
          <p:cNvSpPr/>
          <p:nvPr/>
        </p:nvSpPr>
        <p:spPr>
          <a:xfrm>
            <a:off x="119160" y="2337840"/>
            <a:ext cx="8945280" cy="60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Describe the problem clearly .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12960" y="4531680"/>
            <a:ext cx="659340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Who is affected by this problem 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6"/>
          <p:cNvSpPr/>
          <p:nvPr/>
        </p:nvSpPr>
        <p:spPr>
          <a:xfrm>
            <a:off x="12960" y="6751080"/>
            <a:ext cx="9194400" cy="60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Why this problem is important ?       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Group 7"/>
          <p:cNvGrpSpPr/>
          <p:nvPr/>
        </p:nvGrpSpPr>
        <p:grpSpPr>
          <a:xfrm>
            <a:off x="1028880" y="1603080"/>
            <a:ext cx="16229880" cy="302040"/>
            <a:chOff x="1028880" y="1603080"/>
            <a:chExt cx="16229880" cy="302040"/>
          </a:xfrm>
        </p:grpSpPr>
        <p:sp>
          <p:nvSpPr>
            <p:cNvPr id="81" name="Freeform 8"/>
            <p:cNvSpPr/>
            <p:nvPr/>
          </p:nvSpPr>
          <p:spPr>
            <a:xfrm>
              <a:off x="1028880" y="1755720"/>
              <a:ext cx="16229880" cy="149400"/>
            </a:xfrm>
            <a:custGeom>
              <a:avLst/>
              <a:gdLst>
                <a:gd name="textAreaLeft" fmla="*/ 0 w 16229880"/>
                <a:gd name="textAreaRight" fmla="*/ 16230600 w 16229880"/>
                <a:gd name="textAreaTop" fmla="*/ 0 h 149400"/>
                <a:gd name="textAreaBottom" fmla="*/ 150120 h 149400"/>
              </a:gdLst>
              <a:ahLst/>
              <a:cxnLst/>
              <a:rect l="textAreaLeft" t="textAreaTop" r="textAreaRight" b="textAreaBottom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0">
              <a:gsLst>
                <a:gs pos="0">
                  <a:srgbClr val="FFC4E1">
                    <a:alpha val="0"/>
                  </a:srgbClr>
                </a:gs>
                <a:gs pos="25000">
                  <a:srgbClr val="C4FBFF"/>
                </a:gs>
                <a:gs pos="50000">
                  <a:srgbClr val="DAFCFF"/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TextBox 9"/>
            <p:cNvSpPr/>
            <p:nvPr/>
          </p:nvSpPr>
          <p:spPr>
            <a:xfrm>
              <a:off x="1028880" y="1603080"/>
              <a:ext cx="16229880" cy="30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tIns="50760" rIns="50760" bIns="5076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83" name="Freeform 10"/>
          <p:cNvSpPr/>
          <p:nvPr/>
        </p:nvSpPr>
        <p:spPr>
          <a:xfrm>
            <a:off x="633240" y="575280"/>
            <a:ext cx="2130840" cy="1004040"/>
          </a:xfrm>
          <a:custGeom>
            <a:avLst/>
            <a:gdLst>
              <a:gd name="textAreaLeft" fmla="*/ 0 w 2130840"/>
              <a:gd name="textAreaRight" fmla="*/ 2131560 w 2130840"/>
              <a:gd name="textAreaTop" fmla="*/ 0 h 1004040"/>
              <a:gd name="textAreaBottom" fmla="*/ 1004760 h 1004040"/>
            </a:gdLst>
            <a:ahLst/>
            <a:cxnLst/>
            <a:rect l="textAreaLeft" t="textAreaTop" r="textAreaRight" b="textAreaBottom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Freeform 11"/>
          <p:cNvSpPr/>
          <p:nvPr/>
        </p:nvSpPr>
        <p:spPr>
          <a:xfrm>
            <a:off x="15978600" y="-269280"/>
            <a:ext cx="2475000" cy="2475000"/>
          </a:xfrm>
          <a:custGeom>
            <a:avLst/>
            <a:gdLst>
              <a:gd name="textAreaLeft" fmla="*/ 0 w 2475000"/>
              <a:gd name="textAreaRight" fmla="*/ 2475720 w 2475000"/>
              <a:gd name="textAreaTop" fmla="*/ 0 h 2475000"/>
              <a:gd name="textAreaBottom" fmla="*/ 2475720 h 2475000"/>
            </a:gdLst>
            <a:ahLst/>
            <a:cxnLst/>
            <a:rect l="textAreaLeft" t="textAreaTop" r="textAreaRight" b="textAreaBottom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12"/>
          <p:cNvSpPr/>
          <p:nvPr/>
        </p:nvSpPr>
        <p:spPr>
          <a:xfrm>
            <a:off x="219240" y="5100840"/>
            <a:ext cx="13495320" cy="12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367200" defTabSz="914400">
              <a:lnSpc>
                <a:spcPts val="4759"/>
              </a:lnSpc>
            </a:pPr>
            <a:r>
              <a:rPr lang="en-US" sz="3200" b="0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Students, freelancers, and lifelong learners who want to learn new skills but cannot afford courses or formal tutoring.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Rectangle 14"/>
          <p:cNvSpPr/>
          <p:nvPr/>
        </p:nvSpPr>
        <p:spPr>
          <a:xfrm>
            <a:off x="633240" y="3032280"/>
            <a:ext cx="16799400" cy="10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Students and professionals struggle to find others with complementary skills willing to teach in exchange for what they know.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15"/>
          <p:cNvSpPr/>
          <p:nvPr/>
        </p:nvSpPr>
        <p:spPr>
          <a:xfrm>
            <a:off x="441720" y="7481160"/>
            <a:ext cx="16748280" cy="12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367200" defTabSz="914400">
              <a:lnSpc>
                <a:spcPts val="4759"/>
              </a:lnSpc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Students, freelancers, and lifelong learners who want to learn new skills but cannot afford courses or formal tutoring.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Freeform 2"/>
          <p:cNvSpPr/>
          <p:nvPr/>
        </p:nvSpPr>
        <p:spPr>
          <a:xfrm>
            <a:off x="0" y="-3600"/>
            <a:ext cx="18287280" cy="10286280"/>
          </a:xfrm>
          <a:custGeom>
            <a:avLst/>
            <a:gdLst>
              <a:gd name="textAreaLeft" fmla="*/ 0 w 18287280"/>
              <a:gd name="textAreaRight" fmla="*/ 18288000 w 18287280"/>
              <a:gd name="textAreaTop" fmla="*/ 0 h 10286280"/>
              <a:gd name="textAreaBottom" fmla="*/ 10287000 h 102862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4369680" y="525600"/>
            <a:ext cx="990612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6999"/>
              </a:lnSpc>
            </a:pPr>
            <a:r>
              <a:rPr lang="en-US" sz="5000" b="1" u="none" spc="-400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EXISTING  SOLUTIONS  AND  GAPS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"/>
          <p:cNvSpPr/>
          <p:nvPr/>
        </p:nvSpPr>
        <p:spPr>
          <a:xfrm>
            <a:off x="956520" y="2256840"/>
            <a:ext cx="672696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List of existing Solutions  (if any)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990360" y="4373280"/>
            <a:ext cx="744516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Mention their Limitations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1019520" y="6322680"/>
            <a:ext cx="12648240" cy="60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Explain the gap your project will address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3" name="Group 7"/>
          <p:cNvGrpSpPr/>
          <p:nvPr/>
        </p:nvGrpSpPr>
        <p:grpSpPr>
          <a:xfrm>
            <a:off x="1221840" y="1504080"/>
            <a:ext cx="16229880" cy="302040"/>
            <a:chOff x="1221840" y="1504080"/>
            <a:chExt cx="16229880" cy="302040"/>
          </a:xfrm>
        </p:grpSpPr>
        <p:sp>
          <p:nvSpPr>
            <p:cNvPr id="94" name="Freeform 8"/>
            <p:cNvSpPr/>
            <p:nvPr/>
          </p:nvSpPr>
          <p:spPr>
            <a:xfrm>
              <a:off x="1221840" y="1656720"/>
              <a:ext cx="16229880" cy="149400"/>
            </a:xfrm>
            <a:custGeom>
              <a:avLst/>
              <a:gdLst>
                <a:gd name="textAreaLeft" fmla="*/ 0 w 16229880"/>
                <a:gd name="textAreaRight" fmla="*/ 16230600 w 16229880"/>
                <a:gd name="textAreaTop" fmla="*/ 0 h 149400"/>
                <a:gd name="textAreaBottom" fmla="*/ 150120 h 149400"/>
              </a:gdLst>
              <a:ahLst/>
              <a:cxnLst/>
              <a:rect l="textAreaLeft" t="textAreaTop" r="textAreaRight" b="textAreaBottom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0">
              <a:gsLst>
                <a:gs pos="0">
                  <a:srgbClr val="FFC4E1">
                    <a:alpha val="0"/>
                  </a:srgbClr>
                </a:gs>
                <a:gs pos="25000">
                  <a:srgbClr val="C4FBFF"/>
                </a:gs>
                <a:gs pos="50000">
                  <a:srgbClr val="DAFCFF"/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TextBox 9"/>
            <p:cNvSpPr/>
            <p:nvPr/>
          </p:nvSpPr>
          <p:spPr>
            <a:xfrm>
              <a:off x="1221840" y="1504080"/>
              <a:ext cx="16229880" cy="30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tIns="50760" rIns="50760" bIns="5076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96" name="Freeform 10"/>
          <p:cNvSpPr/>
          <p:nvPr/>
        </p:nvSpPr>
        <p:spPr>
          <a:xfrm>
            <a:off x="633240" y="575280"/>
            <a:ext cx="2130840" cy="1004040"/>
          </a:xfrm>
          <a:custGeom>
            <a:avLst/>
            <a:gdLst>
              <a:gd name="textAreaLeft" fmla="*/ 0 w 2130840"/>
              <a:gd name="textAreaRight" fmla="*/ 2131560 w 2130840"/>
              <a:gd name="textAreaTop" fmla="*/ 0 h 1004040"/>
              <a:gd name="textAreaBottom" fmla="*/ 1004760 h 1004040"/>
            </a:gdLst>
            <a:ahLst/>
            <a:cxnLst/>
            <a:rect l="textAreaLeft" t="textAreaTop" r="textAreaRight" b="textAreaBottom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Freeform 11"/>
          <p:cNvSpPr/>
          <p:nvPr/>
        </p:nvSpPr>
        <p:spPr>
          <a:xfrm>
            <a:off x="15978600" y="-269280"/>
            <a:ext cx="2475000" cy="2475000"/>
          </a:xfrm>
          <a:custGeom>
            <a:avLst/>
            <a:gdLst>
              <a:gd name="textAreaLeft" fmla="*/ 0 w 2475000"/>
              <a:gd name="textAreaRight" fmla="*/ 2475720 w 2475000"/>
              <a:gd name="textAreaTop" fmla="*/ 0 h 2475000"/>
              <a:gd name="textAreaBottom" fmla="*/ 2475720 h 2475000"/>
            </a:gdLst>
            <a:ahLst/>
            <a:cxnLst/>
            <a:rect l="textAreaLeft" t="textAreaTop" r="textAreaRight" b="textAreaBottom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13"/>
          <p:cNvSpPr/>
          <p:nvPr/>
        </p:nvSpPr>
        <p:spPr>
          <a:xfrm>
            <a:off x="1651680" y="2993760"/>
            <a:ext cx="11228040" cy="10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Platforms like Barter Chain, Swapo, Swap Skill, LinkedIn Learning, Udemy, and Coursera offer skill courses.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5"/>
          <p:cNvSpPr/>
          <p:nvPr/>
        </p:nvSpPr>
        <p:spPr>
          <a:xfrm>
            <a:off x="1563480" y="5051160"/>
            <a:ext cx="12252960" cy="10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Existing platforms are one-directional (teacher to student), expensive, and do not facilitate mutual skill exchange between peers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7"/>
          <p:cNvSpPr/>
          <p:nvPr/>
        </p:nvSpPr>
        <p:spPr>
          <a:xfrm>
            <a:off x="9542160" y="7123320"/>
            <a:ext cx="183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Box 19"/>
          <p:cNvSpPr/>
          <p:nvPr/>
        </p:nvSpPr>
        <p:spPr>
          <a:xfrm>
            <a:off x="1607400" y="7315200"/>
            <a:ext cx="13920840" cy="15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SkillSwap fills the gap with AI-powered two-way matching and verified skill badges — turning every 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learner into a teacher.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Freeform 2"/>
          <p:cNvSpPr/>
          <p:nvPr/>
        </p:nvSpPr>
        <p:spPr>
          <a:xfrm>
            <a:off x="0" y="0"/>
            <a:ext cx="18287280" cy="10286280"/>
          </a:xfrm>
          <a:custGeom>
            <a:avLst/>
            <a:gdLst>
              <a:gd name="textAreaLeft" fmla="*/ 0 w 18287280"/>
              <a:gd name="textAreaRight" fmla="*/ 18288000 w 18287280"/>
              <a:gd name="textAreaTop" fmla="*/ 0 h 10286280"/>
              <a:gd name="textAreaBottom" fmla="*/ 10287000 h 102862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3"/>
          <p:cNvSpPr/>
          <p:nvPr/>
        </p:nvSpPr>
        <p:spPr>
          <a:xfrm>
            <a:off x="5714640" y="525600"/>
            <a:ext cx="769068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6999"/>
              </a:lnSpc>
            </a:pPr>
            <a:r>
              <a:rPr lang="en-US" sz="5000" b="1" u="none" spc="-400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PROPOSED  SOLUTION 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4"/>
          <p:cNvSpPr/>
          <p:nvPr/>
        </p:nvSpPr>
        <p:spPr>
          <a:xfrm>
            <a:off x="1249920" y="2437920"/>
            <a:ext cx="9623880" cy="60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Explain your solution clearly .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5"/>
          <p:cNvSpPr/>
          <p:nvPr/>
        </p:nvSpPr>
        <p:spPr>
          <a:xfrm>
            <a:off x="1249920" y="4969440"/>
            <a:ext cx="694944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List key features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6"/>
          <p:cNvSpPr/>
          <p:nvPr/>
        </p:nvSpPr>
        <p:spPr>
          <a:xfrm>
            <a:off x="1186200" y="7293960"/>
            <a:ext cx="732312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Explain how it solves the problem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7" name="Group 7"/>
          <p:cNvGrpSpPr/>
          <p:nvPr/>
        </p:nvGrpSpPr>
        <p:grpSpPr>
          <a:xfrm>
            <a:off x="1028880" y="1460520"/>
            <a:ext cx="16229880" cy="302040"/>
            <a:chOff x="1028880" y="1460520"/>
            <a:chExt cx="16229880" cy="302040"/>
          </a:xfrm>
        </p:grpSpPr>
        <p:sp>
          <p:nvSpPr>
            <p:cNvPr id="108" name="Freeform 8"/>
            <p:cNvSpPr/>
            <p:nvPr/>
          </p:nvSpPr>
          <p:spPr>
            <a:xfrm>
              <a:off x="1028880" y="1613160"/>
              <a:ext cx="16229880" cy="149400"/>
            </a:xfrm>
            <a:custGeom>
              <a:avLst/>
              <a:gdLst>
                <a:gd name="textAreaLeft" fmla="*/ 0 w 16229880"/>
                <a:gd name="textAreaRight" fmla="*/ 16230600 w 16229880"/>
                <a:gd name="textAreaTop" fmla="*/ 0 h 149400"/>
                <a:gd name="textAreaBottom" fmla="*/ 150120 h 149400"/>
              </a:gdLst>
              <a:ahLst/>
              <a:cxnLst/>
              <a:rect l="textAreaLeft" t="textAreaTop" r="textAreaRight" b="textAreaBottom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0">
              <a:gsLst>
                <a:gs pos="0">
                  <a:srgbClr val="FFC4E1">
                    <a:alpha val="0"/>
                  </a:srgbClr>
                </a:gs>
                <a:gs pos="25000">
                  <a:srgbClr val="C4FBFF"/>
                </a:gs>
                <a:gs pos="50000">
                  <a:srgbClr val="DAFCFF"/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TextBox 9"/>
            <p:cNvSpPr/>
            <p:nvPr/>
          </p:nvSpPr>
          <p:spPr>
            <a:xfrm>
              <a:off x="1028880" y="1460520"/>
              <a:ext cx="16229880" cy="30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tIns="50760" rIns="50760" bIns="5076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10" name="Freeform 10"/>
          <p:cNvSpPr/>
          <p:nvPr/>
        </p:nvSpPr>
        <p:spPr>
          <a:xfrm>
            <a:off x="633240" y="575280"/>
            <a:ext cx="2130840" cy="1004040"/>
          </a:xfrm>
          <a:custGeom>
            <a:avLst/>
            <a:gdLst>
              <a:gd name="textAreaLeft" fmla="*/ 0 w 2130840"/>
              <a:gd name="textAreaRight" fmla="*/ 2131560 w 2130840"/>
              <a:gd name="textAreaTop" fmla="*/ 0 h 1004040"/>
              <a:gd name="textAreaBottom" fmla="*/ 1004760 h 1004040"/>
            </a:gdLst>
            <a:ahLst/>
            <a:cxnLst/>
            <a:rect l="textAreaLeft" t="textAreaTop" r="textAreaRight" b="textAreaBottom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Freeform 11"/>
          <p:cNvSpPr/>
          <p:nvPr/>
        </p:nvSpPr>
        <p:spPr>
          <a:xfrm>
            <a:off x="15978600" y="-269280"/>
            <a:ext cx="2475000" cy="2475000"/>
          </a:xfrm>
          <a:custGeom>
            <a:avLst/>
            <a:gdLst>
              <a:gd name="textAreaLeft" fmla="*/ 0 w 2475000"/>
              <a:gd name="textAreaRight" fmla="*/ 2475720 w 2475000"/>
              <a:gd name="textAreaTop" fmla="*/ 0 h 2475000"/>
              <a:gd name="textAreaBottom" fmla="*/ 2475720 h 2475000"/>
            </a:gdLst>
            <a:ahLst/>
            <a:cxnLst/>
            <a:rect l="textAreaLeft" t="textAreaTop" r="textAreaRight" b="textAreaBottom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1865520" y="3399840"/>
            <a:ext cx="11937960" cy="15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Skill Swap Board is an AI-powered peer skill exchange platform where users trade what they know for what they want to learn — at zero cost.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13"/>
          <p:cNvSpPr/>
          <p:nvPr/>
        </p:nvSpPr>
        <p:spPr>
          <a:xfrm>
            <a:off x="1865520" y="5685480"/>
            <a:ext cx="1286712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Key Features: AI match suggestions (Claude API), skill verification quiz, swap request inbox, live stats, dark mode UI with animations.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5"/>
          <p:cNvSpPr/>
          <p:nvPr/>
        </p:nvSpPr>
        <p:spPr>
          <a:xfrm>
            <a:off x="1865520" y="8067240"/>
            <a:ext cx="13811040" cy="15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Users create profiles, get AI-ranked compatible matches, send/accept swap requests, and verify skills via AI-generated quizzes earning trusted badges.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Freeform 2"/>
          <p:cNvSpPr/>
          <p:nvPr/>
        </p:nvSpPr>
        <p:spPr>
          <a:xfrm>
            <a:off x="0" y="0"/>
            <a:ext cx="18287280" cy="10286280"/>
          </a:xfrm>
          <a:custGeom>
            <a:avLst/>
            <a:gdLst>
              <a:gd name="textAreaLeft" fmla="*/ 0 w 18287280"/>
              <a:gd name="textAreaRight" fmla="*/ 18288000 w 18287280"/>
              <a:gd name="textAreaTop" fmla="*/ 0 h 10286280"/>
              <a:gd name="textAreaBottom" fmla="*/ 10287000 h 102862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4975200" y="396000"/>
            <a:ext cx="875484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6999"/>
              </a:lnSpc>
            </a:pPr>
            <a:r>
              <a:rPr lang="en-US" sz="5000" b="1" u="none" spc="-400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 SYSTEM ARCHITECTURE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4"/>
          <p:cNvSpPr/>
          <p:nvPr/>
        </p:nvSpPr>
        <p:spPr>
          <a:xfrm>
            <a:off x="1046880" y="2265840"/>
            <a:ext cx="676908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Include architecture diagram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5"/>
          <p:cNvSpPr/>
          <p:nvPr/>
        </p:nvSpPr>
        <p:spPr>
          <a:xfrm>
            <a:off x="1046880" y="4514040"/>
            <a:ext cx="1059840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Mention main components (Frontend, Backend, Database, APIs)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6"/>
          <p:cNvSpPr/>
          <p:nvPr/>
        </p:nvSpPr>
        <p:spPr>
          <a:xfrm>
            <a:off x="1046880" y="6732360"/>
            <a:ext cx="737388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Explain data flow briefly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0" name="Group 7"/>
          <p:cNvGrpSpPr/>
          <p:nvPr/>
        </p:nvGrpSpPr>
        <p:grpSpPr>
          <a:xfrm>
            <a:off x="1176480" y="1396800"/>
            <a:ext cx="16229880" cy="301680"/>
            <a:chOff x="1176480" y="1396800"/>
            <a:chExt cx="16229880" cy="301680"/>
          </a:xfrm>
        </p:grpSpPr>
        <p:sp>
          <p:nvSpPr>
            <p:cNvPr id="121" name="Freeform 8"/>
            <p:cNvSpPr/>
            <p:nvPr/>
          </p:nvSpPr>
          <p:spPr>
            <a:xfrm>
              <a:off x="1176480" y="1549080"/>
              <a:ext cx="16229880" cy="149400"/>
            </a:xfrm>
            <a:custGeom>
              <a:avLst/>
              <a:gdLst>
                <a:gd name="textAreaLeft" fmla="*/ 0 w 16229880"/>
                <a:gd name="textAreaRight" fmla="*/ 16230600 w 16229880"/>
                <a:gd name="textAreaTop" fmla="*/ 0 h 149400"/>
                <a:gd name="textAreaBottom" fmla="*/ 150120 h 149400"/>
              </a:gdLst>
              <a:ahLst/>
              <a:cxnLst/>
              <a:rect l="textAreaLeft" t="textAreaTop" r="textAreaRight" b="textAreaBottom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0">
              <a:gsLst>
                <a:gs pos="0">
                  <a:srgbClr val="FFC4E1">
                    <a:alpha val="0"/>
                  </a:srgbClr>
                </a:gs>
                <a:gs pos="25000">
                  <a:srgbClr val="C4FBFF"/>
                </a:gs>
                <a:gs pos="50000">
                  <a:srgbClr val="DAFCFF"/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TextBox 9"/>
            <p:cNvSpPr/>
            <p:nvPr/>
          </p:nvSpPr>
          <p:spPr>
            <a:xfrm>
              <a:off x="1176480" y="1396800"/>
              <a:ext cx="16229880" cy="30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tIns="50760" rIns="50760" bIns="5076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23" name="Freeform 10"/>
          <p:cNvSpPr/>
          <p:nvPr/>
        </p:nvSpPr>
        <p:spPr>
          <a:xfrm>
            <a:off x="633240" y="575280"/>
            <a:ext cx="2130840" cy="1004040"/>
          </a:xfrm>
          <a:custGeom>
            <a:avLst/>
            <a:gdLst>
              <a:gd name="textAreaLeft" fmla="*/ 0 w 2130840"/>
              <a:gd name="textAreaRight" fmla="*/ 2131560 w 2130840"/>
              <a:gd name="textAreaTop" fmla="*/ 0 h 1004040"/>
              <a:gd name="textAreaBottom" fmla="*/ 1004760 h 1004040"/>
            </a:gdLst>
            <a:ahLst/>
            <a:cxnLst/>
            <a:rect l="textAreaLeft" t="textAreaTop" r="textAreaRight" b="textAreaBottom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Freeform 11"/>
          <p:cNvSpPr/>
          <p:nvPr/>
        </p:nvSpPr>
        <p:spPr>
          <a:xfrm>
            <a:off x="15978600" y="-269280"/>
            <a:ext cx="2475000" cy="2475000"/>
          </a:xfrm>
          <a:custGeom>
            <a:avLst/>
            <a:gdLst>
              <a:gd name="textAreaLeft" fmla="*/ 0 w 2475000"/>
              <a:gd name="textAreaRight" fmla="*/ 2475720 w 2475000"/>
              <a:gd name="textAreaTop" fmla="*/ 0 h 2475000"/>
              <a:gd name="textAreaBottom" fmla="*/ 2475720 h 2475000"/>
            </a:gdLst>
            <a:ahLst/>
            <a:cxnLst/>
            <a:rect l="textAreaLeft" t="textAreaTop" r="textAreaRight" b="textAreaBottom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11"/>
          <p:cNvSpPr/>
          <p:nvPr/>
        </p:nvSpPr>
        <p:spPr>
          <a:xfrm>
            <a:off x="1674000" y="3030840"/>
            <a:ext cx="12822840" cy="15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Single-page frontend (HTML/CSS/JS) communicates with a FastAPI backend via REST APIs; data is stored in a JSON flat-file database.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13"/>
          <p:cNvSpPr/>
          <p:nvPr/>
        </p:nvSpPr>
        <p:spPr>
          <a:xfrm>
            <a:off x="1674000" y="5221080"/>
            <a:ext cx="15064920" cy="15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Components: index.html (UI), FastAPI (main.py), Routes (users, matches, requests, quiz), JSON storage (database.py), Anthropic Claude API.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14"/>
          <p:cNvSpPr/>
          <p:nvPr/>
        </p:nvSpPr>
        <p:spPr>
          <a:xfrm>
            <a:off x="1709640" y="7774920"/>
            <a:ext cx="12491280" cy="15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User action → Frontend fetch → FastAPI route → Local Jaccard algorithm pre-ranks → 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Claude API deep-analyzes top 5 → JSON response → UI renders.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Freeform 2"/>
          <p:cNvSpPr/>
          <p:nvPr/>
        </p:nvSpPr>
        <p:spPr>
          <a:xfrm>
            <a:off x="0" y="0"/>
            <a:ext cx="18287280" cy="10286280"/>
          </a:xfrm>
          <a:custGeom>
            <a:avLst/>
            <a:gdLst>
              <a:gd name="textAreaLeft" fmla="*/ 0 w 18287280"/>
              <a:gd name="textAreaRight" fmla="*/ 18288000 w 18287280"/>
              <a:gd name="textAreaTop" fmla="*/ 0 h 10286280"/>
              <a:gd name="textAreaBottom" fmla="*/ 10287000 h 102862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3"/>
          <p:cNvSpPr/>
          <p:nvPr/>
        </p:nvSpPr>
        <p:spPr>
          <a:xfrm>
            <a:off x="3954600" y="396000"/>
            <a:ext cx="1132380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6999"/>
              </a:lnSpc>
            </a:pPr>
            <a:r>
              <a:rPr lang="en-US" sz="5000" b="1" u="none" spc="-400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FLOWCHART  /  WORKING  PROCESS 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4"/>
          <p:cNvSpPr/>
          <p:nvPr/>
        </p:nvSpPr>
        <p:spPr>
          <a:xfrm>
            <a:off x="901440" y="1847160"/>
            <a:ext cx="723780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Show step-by-step working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10155240" y="1788120"/>
            <a:ext cx="762264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Include user flow or system flow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126360" y="8135640"/>
            <a:ext cx="616248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Use a proper flowchart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3" name="Group 7"/>
          <p:cNvGrpSpPr/>
          <p:nvPr/>
        </p:nvGrpSpPr>
        <p:grpSpPr>
          <a:xfrm>
            <a:off x="1287720" y="1396800"/>
            <a:ext cx="16229880" cy="301680"/>
            <a:chOff x="1287720" y="1396800"/>
            <a:chExt cx="16229880" cy="301680"/>
          </a:xfrm>
        </p:grpSpPr>
        <p:sp>
          <p:nvSpPr>
            <p:cNvPr id="134" name="Freeform 8"/>
            <p:cNvSpPr/>
            <p:nvPr/>
          </p:nvSpPr>
          <p:spPr>
            <a:xfrm>
              <a:off x="1287720" y="1549080"/>
              <a:ext cx="16229880" cy="149400"/>
            </a:xfrm>
            <a:custGeom>
              <a:avLst/>
              <a:gdLst>
                <a:gd name="textAreaLeft" fmla="*/ 0 w 16229880"/>
                <a:gd name="textAreaRight" fmla="*/ 16230600 w 16229880"/>
                <a:gd name="textAreaTop" fmla="*/ 0 h 149400"/>
                <a:gd name="textAreaBottom" fmla="*/ 150120 h 149400"/>
              </a:gdLst>
              <a:ahLst/>
              <a:cxnLst/>
              <a:rect l="textAreaLeft" t="textAreaTop" r="textAreaRight" b="textAreaBottom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0">
              <a:gsLst>
                <a:gs pos="0">
                  <a:srgbClr val="FFC4E1">
                    <a:alpha val="0"/>
                  </a:srgbClr>
                </a:gs>
                <a:gs pos="25000">
                  <a:srgbClr val="C4FBFF"/>
                </a:gs>
                <a:gs pos="50000">
                  <a:srgbClr val="DAFCFF"/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TextBox 9"/>
            <p:cNvSpPr/>
            <p:nvPr/>
          </p:nvSpPr>
          <p:spPr>
            <a:xfrm>
              <a:off x="1287720" y="1396800"/>
              <a:ext cx="16229880" cy="30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tIns="50760" rIns="50760" bIns="5076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36" name="Freeform 10"/>
          <p:cNvSpPr/>
          <p:nvPr/>
        </p:nvSpPr>
        <p:spPr>
          <a:xfrm>
            <a:off x="633240" y="575280"/>
            <a:ext cx="2130840" cy="1004040"/>
          </a:xfrm>
          <a:custGeom>
            <a:avLst/>
            <a:gdLst>
              <a:gd name="textAreaLeft" fmla="*/ 0 w 2130840"/>
              <a:gd name="textAreaRight" fmla="*/ 2131560 w 2130840"/>
              <a:gd name="textAreaTop" fmla="*/ 0 h 1004040"/>
              <a:gd name="textAreaBottom" fmla="*/ 1004760 h 1004040"/>
            </a:gdLst>
            <a:ahLst/>
            <a:cxnLst/>
            <a:rect l="textAreaLeft" t="textAreaTop" r="textAreaRight" b="textAreaBottom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Freeform 11"/>
          <p:cNvSpPr/>
          <p:nvPr/>
        </p:nvSpPr>
        <p:spPr>
          <a:xfrm>
            <a:off x="16007400" y="-269280"/>
            <a:ext cx="2475000" cy="2475000"/>
          </a:xfrm>
          <a:custGeom>
            <a:avLst/>
            <a:gdLst>
              <a:gd name="textAreaLeft" fmla="*/ 0 w 2475000"/>
              <a:gd name="textAreaRight" fmla="*/ 2475720 w 2475000"/>
              <a:gd name="textAreaTop" fmla="*/ 0 h 2475000"/>
              <a:gd name="textAreaBottom" fmla="*/ 2475720 h 2475000"/>
            </a:gdLst>
            <a:ahLst/>
            <a:cxnLst/>
            <a:rect l="textAreaLeft" t="textAreaTop" r="textAreaRight" b="textAreaBottom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1287720" y="2373840"/>
            <a:ext cx="8205480" cy="544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0" u="none" spc="-272" strike="noStrike">
                <a:solidFill>
                  <a:srgbClr val="FFFFFF"/>
                </a:solidFill>
                <a:effectLst/>
                <a:uFillTx/>
                <a:latin typeface="Calibri"/>
                <a:ea typeface="Times New Roman Bold"/>
              </a:rPr>
              <a:t>Step 1: User registers with name, bio, skills offered and skills wanted. 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pc="-272" strike="noStrike">
                <a:solidFill>
                  <a:srgbClr val="FFFFFF"/>
                </a:solidFill>
                <a:effectLst/>
                <a:uFillTx/>
                <a:latin typeface="Calibri"/>
                <a:ea typeface="Times New Roman Bold"/>
              </a:rPr>
              <a:t>Step 2: Clicks Find Matches — local Jaccard algorithm scores all users instantly.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-272" strike="noStrike">
                <a:solidFill>
                  <a:srgbClr val="FFFFFF"/>
                </a:solidFill>
                <a:effectLst/>
                <a:uFillTx/>
                <a:latin typeface="Calibri"/>
                <a:ea typeface="Times New Roman Bold"/>
              </a:rPr>
              <a:t>Step 3: Claude AI analyses top 5 candidates and returns match %, reason, and a suggested swap.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-272" strike="noStrike">
                <a:solidFill>
                  <a:srgbClr val="FFFFFF"/>
                </a:solidFill>
                <a:effectLst/>
                <a:uFillTx/>
                <a:latin typeface="Calibri"/>
                <a:ea typeface="Times New Roman Bold"/>
              </a:rPr>
              <a:t>Step 4: User sends a swap request choosing skill to offer and learn.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-272" strike="noStrike">
                <a:solidFill>
                  <a:srgbClr val="FFFFFF"/>
                </a:solidFill>
                <a:effectLst/>
                <a:uFillTx/>
                <a:latin typeface="Calibri"/>
                <a:ea typeface="Times New Roman Bold"/>
              </a:rPr>
              <a:t>Step 5: Recipient accepts/declines from inbox. 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-272" strike="noStrike">
                <a:solidFill>
                  <a:srgbClr val="FFFFFF"/>
                </a:solidFill>
                <a:effectLst/>
                <a:uFillTx/>
                <a:latin typeface="Calibri"/>
                <a:ea typeface="Times New Roman Bold"/>
              </a:rPr>
              <a:t>Step 6: Either user can click Verify Skill — AI quiz is generated and on passing, a verified badge is awarded.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2"/>
          <p:cNvSpPr/>
          <p:nvPr/>
        </p:nvSpPr>
        <p:spPr>
          <a:xfrm>
            <a:off x="10602360" y="2300400"/>
            <a:ext cx="6914880" cy="629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This shows the steps a user follows 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Example User Flow: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User opens the app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User signs up / logs in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User adds: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Skills they have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Skills they want to learn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User browses or gets matched suggestions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User sends a swap request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Other user accepts/rejects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They connect (chat/video)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Skill exchange happens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Both users rate each other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3"/>
          <p:cNvSpPr/>
          <p:nvPr/>
        </p:nvSpPr>
        <p:spPr>
          <a:xfrm>
            <a:off x="633240" y="8863920"/>
            <a:ext cx="17274960" cy="13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IN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START → Open App → Login/Signup → Enter Skills → Store in DB → Match Users → Show Matches →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Send Request → Notify User → Accept?          YES → Create Chat → Skill Exchange → Rating → Update Profile → END 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                                                                                 NO  → Back to Matching → Show Matches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Freeform 2"/>
          <p:cNvSpPr/>
          <p:nvPr/>
        </p:nvSpPr>
        <p:spPr>
          <a:xfrm>
            <a:off x="0" y="0"/>
            <a:ext cx="18287280" cy="10286280"/>
          </a:xfrm>
          <a:custGeom>
            <a:avLst/>
            <a:gdLst>
              <a:gd name="textAreaLeft" fmla="*/ 0 w 18287280"/>
              <a:gd name="textAreaRight" fmla="*/ 18288000 w 18287280"/>
              <a:gd name="textAreaTop" fmla="*/ 0 h 10286280"/>
              <a:gd name="textAreaBottom" fmla="*/ 10287000 h 102862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3"/>
          <p:cNvSpPr/>
          <p:nvPr/>
        </p:nvSpPr>
        <p:spPr>
          <a:xfrm>
            <a:off x="6144120" y="377640"/>
            <a:ext cx="572760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6999"/>
              </a:lnSpc>
            </a:pPr>
            <a:r>
              <a:rPr lang="en-US" sz="5000" b="1" u="none" spc="-400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TECH  STACK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4"/>
          <p:cNvSpPr/>
          <p:nvPr/>
        </p:nvSpPr>
        <p:spPr>
          <a:xfrm>
            <a:off x="520560" y="2028600"/>
            <a:ext cx="549612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Frontend technologies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5"/>
          <p:cNvSpPr/>
          <p:nvPr/>
        </p:nvSpPr>
        <p:spPr>
          <a:xfrm>
            <a:off x="491040" y="3975120"/>
            <a:ext cx="574668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Backend technologies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594360" y="6146640"/>
            <a:ext cx="310680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Database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561960" y="8141400"/>
            <a:ext cx="13947480" cy="60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Tools and APIs used and </a:t>
            </a:r>
            <a:r>
              <a:rPr lang="en-US" sz="3400" b="0" u="none" spc="-272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r</a:t>
            </a: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eason for choosing each (1 line each)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7" name="Group 8"/>
          <p:cNvGrpSpPr/>
          <p:nvPr/>
        </p:nvGrpSpPr>
        <p:grpSpPr>
          <a:xfrm>
            <a:off x="1028880" y="1253520"/>
            <a:ext cx="16229880" cy="302040"/>
            <a:chOff x="1028880" y="1253520"/>
            <a:chExt cx="16229880" cy="302040"/>
          </a:xfrm>
        </p:grpSpPr>
        <p:sp>
          <p:nvSpPr>
            <p:cNvPr id="148" name="Freeform 9"/>
            <p:cNvSpPr/>
            <p:nvPr/>
          </p:nvSpPr>
          <p:spPr>
            <a:xfrm>
              <a:off x="1028880" y="1406160"/>
              <a:ext cx="16229880" cy="149400"/>
            </a:xfrm>
            <a:custGeom>
              <a:avLst/>
              <a:gdLst>
                <a:gd name="textAreaLeft" fmla="*/ 0 w 16229880"/>
                <a:gd name="textAreaRight" fmla="*/ 16230600 w 16229880"/>
                <a:gd name="textAreaTop" fmla="*/ 0 h 149400"/>
                <a:gd name="textAreaBottom" fmla="*/ 150120 h 149400"/>
              </a:gdLst>
              <a:ahLst/>
              <a:cxnLst/>
              <a:rect l="textAreaLeft" t="textAreaTop" r="textAreaRight" b="textAreaBottom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0">
              <a:gsLst>
                <a:gs pos="0">
                  <a:srgbClr val="FFC4E1">
                    <a:alpha val="0"/>
                  </a:srgbClr>
                </a:gs>
                <a:gs pos="25000">
                  <a:srgbClr val="C4FBFF"/>
                </a:gs>
                <a:gs pos="50000">
                  <a:srgbClr val="DAFCFF"/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TextBox 10"/>
            <p:cNvSpPr/>
            <p:nvPr/>
          </p:nvSpPr>
          <p:spPr>
            <a:xfrm>
              <a:off x="1028880" y="1253520"/>
              <a:ext cx="16229880" cy="30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tIns="50760" rIns="50760" bIns="5076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50" name="Freeform 11"/>
          <p:cNvSpPr/>
          <p:nvPr/>
        </p:nvSpPr>
        <p:spPr>
          <a:xfrm>
            <a:off x="633240" y="575280"/>
            <a:ext cx="2130840" cy="1004040"/>
          </a:xfrm>
          <a:custGeom>
            <a:avLst/>
            <a:gdLst>
              <a:gd name="textAreaLeft" fmla="*/ 0 w 2130840"/>
              <a:gd name="textAreaRight" fmla="*/ 2131560 w 2130840"/>
              <a:gd name="textAreaTop" fmla="*/ 0 h 1004040"/>
              <a:gd name="textAreaBottom" fmla="*/ 1004760 h 1004040"/>
            </a:gdLst>
            <a:ahLst/>
            <a:cxnLst/>
            <a:rect l="textAreaLeft" t="textAreaTop" r="textAreaRight" b="textAreaBottom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Freeform 12"/>
          <p:cNvSpPr/>
          <p:nvPr/>
        </p:nvSpPr>
        <p:spPr>
          <a:xfrm>
            <a:off x="15978600" y="-269280"/>
            <a:ext cx="2475000" cy="2475000"/>
          </a:xfrm>
          <a:custGeom>
            <a:avLst/>
            <a:gdLst>
              <a:gd name="textAreaLeft" fmla="*/ 0 w 2475000"/>
              <a:gd name="textAreaRight" fmla="*/ 2475720 w 2475000"/>
              <a:gd name="textAreaTop" fmla="*/ 0 h 2475000"/>
              <a:gd name="textAreaBottom" fmla="*/ 2475720 h 2475000"/>
            </a:gdLst>
            <a:ahLst/>
            <a:cxnLst/>
            <a:rect l="textAreaLeft" t="textAreaTop" r="textAreaRight" b="textAreaBottom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2"/>
          <p:cNvSpPr/>
          <p:nvPr/>
        </p:nvSpPr>
        <p:spPr>
          <a:xfrm>
            <a:off x="1135800" y="2757960"/>
            <a:ext cx="11923200" cy="10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Frontend: Plain HTML5, CSS3, Vanilla JavaScript — single file (index.html). 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Chosen for zero build-step setup and hackathon speed.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3"/>
          <p:cNvSpPr/>
          <p:nvPr/>
        </p:nvSpPr>
        <p:spPr>
          <a:xfrm>
            <a:off x="1121040" y="4763880"/>
            <a:ext cx="13690440" cy="10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Backend: Python FastAPI with Uvicorn — fast async REST API, auto-generated docs,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 CORS middleware, and static file serving in one framework.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14"/>
          <p:cNvSpPr/>
          <p:nvPr/>
        </p:nvSpPr>
        <p:spPr>
          <a:xfrm>
            <a:off x="1164240" y="6843240"/>
            <a:ext cx="12785400" cy="10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Database: JSON flat-file (database.py) — no external DB required, perfect for a 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hackathon prototype with instant portability.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15"/>
          <p:cNvSpPr/>
          <p:nvPr/>
        </p:nvSpPr>
        <p:spPr>
          <a:xfrm>
            <a:off x="1194480" y="8908200"/>
            <a:ext cx="14528880" cy="10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APIs &amp; Tools: Anthropic Claude API (claude-sonnet) for AI matching and quiz generation 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— chosen for best-in-class reasoning and reliability.</a:t>
            </a:r>
            <a:r>
              <a:rPr lang="en-US" sz="3100" b="0" u="none" spc="-272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r</a:t>
            </a: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eason for choosing each (1 line each)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Freeform 2"/>
          <p:cNvSpPr/>
          <p:nvPr/>
        </p:nvSpPr>
        <p:spPr>
          <a:xfrm>
            <a:off x="0" y="0"/>
            <a:ext cx="18287280" cy="10286280"/>
          </a:xfrm>
          <a:custGeom>
            <a:avLst/>
            <a:gdLst>
              <a:gd name="textAreaLeft" fmla="*/ 0 w 18287280"/>
              <a:gd name="textAreaRight" fmla="*/ 18288000 w 18287280"/>
              <a:gd name="textAreaTop" fmla="*/ 0 h 10286280"/>
              <a:gd name="textAreaBottom" fmla="*/ 10287000 h 102862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3717720" y="376560"/>
            <a:ext cx="1052244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6999"/>
              </a:lnSpc>
            </a:pPr>
            <a:r>
              <a:rPr lang="en-US" sz="5000" b="1" u="none" spc="-400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IMPLEMENTATION  PLAN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305280" y="1787400"/>
            <a:ext cx="659304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Step-by-step development plan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0" y="7935120"/>
            <a:ext cx="694728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Modules or features to be built : 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6"/>
          <p:cNvSpPr/>
          <p:nvPr/>
        </p:nvSpPr>
        <p:spPr>
          <a:xfrm>
            <a:off x="116640" y="9429840"/>
            <a:ext cx="625392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Timeline (if applicable)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1" name="Group 7"/>
          <p:cNvGrpSpPr/>
          <p:nvPr/>
        </p:nvGrpSpPr>
        <p:grpSpPr>
          <a:xfrm>
            <a:off x="1116720" y="1307160"/>
            <a:ext cx="16229880" cy="302040"/>
            <a:chOff x="1116720" y="1307160"/>
            <a:chExt cx="16229880" cy="302040"/>
          </a:xfrm>
        </p:grpSpPr>
        <p:sp>
          <p:nvSpPr>
            <p:cNvPr id="162" name="Freeform 8"/>
            <p:cNvSpPr/>
            <p:nvPr/>
          </p:nvSpPr>
          <p:spPr>
            <a:xfrm>
              <a:off x="1116720" y="1459800"/>
              <a:ext cx="16229880" cy="149400"/>
            </a:xfrm>
            <a:custGeom>
              <a:avLst/>
              <a:gdLst>
                <a:gd name="textAreaLeft" fmla="*/ 0 w 16229880"/>
                <a:gd name="textAreaRight" fmla="*/ 16230600 w 16229880"/>
                <a:gd name="textAreaTop" fmla="*/ 0 h 149400"/>
                <a:gd name="textAreaBottom" fmla="*/ 150120 h 149400"/>
              </a:gdLst>
              <a:ahLst/>
              <a:cxnLst/>
              <a:rect l="textAreaLeft" t="textAreaTop" r="textAreaRight" b="textAreaBottom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0">
              <a:gsLst>
                <a:gs pos="0">
                  <a:srgbClr val="FFC4E1">
                    <a:alpha val="0"/>
                  </a:srgbClr>
                </a:gs>
                <a:gs pos="25000">
                  <a:srgbClr val="C4FBFF"/>
                </a:gs>
                <a:gs pos="50000">
                  <a:srgbClr val="DAFCFF"/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TextBox 9"/>
            <p:cNvSpPr/>
            <p:nvPr/>
          </p:nvSpPr>
          <p:spPr>
            <a:xfrm>
              <a:off x="1116720" y="1307160"/>
              <a:ext cx="16229880" cy="30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tIns="50760" rIns="50760" bIns="5076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64" name="Freeform 10"/>
          <p:cNvSpPr/>
          <p:nvPr/>
        </p:nvSpPr>
        <p:spPr>
          <a:xfrm>
            <a:off x="633240" y="575280"/>
            <a:ext cx="2130840" cy="1004040"/>
          </a:xfrm>
          <a:custGeom>
            <a:avLst/>
            <a:gdLst>
              <a:gd name="textAreaLeft" fmla="*/ 0 w 2130840"/>
              <a:gd name="textAreaRight" fmla="*/ 2131560 w 2130840"/>
              <a:gd name="textAreaTop" fmla="*/ 0 h 1004040"/>
              <a:gd name="textAreaBottom" fmla="*/ 1004760 h 1004040"/>
            </a:gdLst>
            <a:ahLst/>
            <a:cxnLst/>
            <a:rect l="textAreaLeft" t="textAreaTop" r="textAreaRight" b="textAreaBottom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Freeform 11"/>
          <p:cNvSpPr/>
          <p:nvPr/>
        </p:nvSpPr>
        <p:spPr>
          <a:xfrm>
            <a:off x="15978600" y="-269280"/>
            <a:ext cx="2475000" cy="2475000"/>
          </a:xfrm>
          <a:custGeom>
            <a:avLst/>
            <a:gdLst>
              <a:gd name="textAreaLeft" fmla="*/ 0 w 2475000"/>
              <a:gd name="textAreaRight" fmla="*/ 2475720 w 2475000"/>
              <a:gd name="textAreaTop" fmla="*/ 0 h 2475000"/>
              <a:gd name="textAreaBottom" fmla="*/ 2475720 h 2475000"/>
            </a:gdLst>
            <a:ahLst/>
            <a:cxnLst/>
            <a:rect l="textAreaLeft" t="textAreaTop" r="textAreaRight" b="textAreaBottom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1"/>
          <p:cNvSpPr/>
          <p:nvPr/>
        </p:nvSpPr>
        <p:spPr>
          <a:xfrm>
            <a:off x="5647680" y="7961040"/>
            <a:ext cx="11279520" cy="9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900" b="0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Modules built: User Profiles, AI Match Engine, Swap Request Flow </a:t>
            </a:r>
            <a:endParaRPr lang="en-IN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900" b="0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(send/accept/decline), Skill Verification Quiz, Requests Inbox with badge counter.</a:t>
            </a:r>
            <a:endParaRPr lang="en-IN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2"/>
          <p:cNvSpPr/>
          <p:nvPr/>
        </p:nvSpPr>
        <p:spPr>
          <a:xfrm>
            <a:off x="423720" y="2406240"/>
            <a:ext cx="18035640" cy="549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IN" sz="2700" b="1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Step 1 — Project Setup</a:t>
            </a: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 Set up folder structure, install FastAPI, Uvicorn, Anthropic SDK, and create the .env file with API key.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700" b="1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Step 2 — Data Models &amp; Database</a:t>
            </a: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Define Pydantic models (User, SwapRequest, QuizAnswer) and build the JSON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	</a:t>
            </a: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      flat-file read/write functions in database.py.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700" b="1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Step 3 — User Routes </a:t>
            </a: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Build /api/users endpoints — create profile, fetch all users, fetch by ID, update verified skills.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700" b="1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Step 4 — Matching Algorithm </a:t>
            </a: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 Implement local Jaccard similarity scoring, direct swap detection, and integrate 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	</a:t>
            </a: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      Claude API to deep-analyse the top 5 matches.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700" b="1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Step 5 — Swap Request Flow </a:t>
            </a: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Build /api/requests routes — send request, fetch inbox, accept/decline with status updates.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700" b="1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Step 6 — Skill Verification Quiz </a:t>
            </a: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Build /api/quiz — use Claude API to auto-generate skill-specific questions, evaluate answers, 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	</a:t>
            </a: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      and award verified badge on pass.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700" b="1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Step 7 — Frontend UI </a:t>
            </a: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Build the complete single-page index.html with profile creation, match display, swap inbox, 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                  and quiz flow — all wired to the backend via fetch calls.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700" b="1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Step 8 — Integration Testing &amp; Demo Prep </a:t>
            </a: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Create 3–4 test profiles with overlapping skills, run full end-to-end flow,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IN" sz="27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                  fix bugs, and rehearse the judge demo script.</a:t>
            </a:r>
            <a:endParaRPr lang="en-IN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Freeform 2"/>
          <p:cNvSpPr/>
          <p:nvPr/>
        </p:nvSpPr>
        <p:spPr>
          <a:xfrm>
            <a:off x="0" y="0"/>
            <a:ext cx="18287280" cy="10286280"/>
          </a:xfrm>
          <a:custGeom>
            <a:avLst/>
            <a:gdLst>
              <a:gd name="textAreaLeft" fmla="*/ 0 w 18287280"/>
              <a:gd name="textAreaRight" fmla="*/ 18288000 w 18287280"/>
              <a:gd name="textAreaTop" fmla="*/ 0 h 10286280"/>
              <a:gd name="textAreaBottom" fmla="*/ 10287000 h 102862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3"/>
          <p:cNvSpPr/>
          <p:nvPr/>
        </p:nvSpPr>
        <p:spPr>
          <a:xfrm>
            <a:off x="4060800" y="377640"/>
            <a:ext cx="966276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6999"/>
              </a:lnSpc>
            </a:pPr>
            <a:r>
              <a:rPr lang="en-US" sz="5000" b="1" u="none" spc="-400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EXPECTED OUTCOME  / IMPACT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4"/>
          <p:cNvSpPr/>
          <p:nvPr/>
        </p:nvSpPr>
        <p:spPr>
          <a:xfrm>
            <a:off x="901440" y="2801160"/>
            <a:ext cx="688500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Expected results of the project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5"/>
          <p:cNvSpPr/>
          <p:nvPr/>
        </p:nvSpPr>
        <p:spPr>
          <a:xfrm>
            <a:off x="891720" y="5057640"/>
            <a:ext cx="457920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Benefits to users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6"/>
          <p:cNvSpPr/>
          <p:nvPr/>
        </p:nvSpPr>
        <p:spPr>
          <a:xfrm>
            <a:off x="901440" y="7259400"/>
            <a:ext cx="474660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Real-world impact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3" name="Group 7"/>
          <p:cNvGrpSpPr/>
          <p:nvPr/>
        </p:nvGrpSpPr>
        <p:grpSpPr>
          <a:xfrm>
            <a:off x="1565280" y="1289160"/>
            <a:ext cx="16229880" cy="302040"/>
            <a:chOff x="1565280" y="1289160"/>
            <a:chExt cx="16229880" cy="302040"/>
          </a:xfrm>
        </p:grpSpPr>
        <p:sp>
          <p:nvSpPr>
            <p:cNvPr id="174" name="Freeform 8"/>
            <p:cNvSpPr/>
            <p:nvPr/>
          </p:nvSpPr>
          <p:spPr>
            <a:xfrm>
              <a:off x="1565280" y="1441800"/>
              <a:ext cx="16229880" cy="149400"/>
            </a:xfrm>
            <a:custGeom>
              <a:avLst/>
              <a:gdLst>
                <a:gd name="textAreaLeft" fmla="*/ 0 w 16229880"/>
                <a:gd name="textAreaRight" fmla="*/ 16230600 w 16229880"/>
                <a:gd name="textAreaTop" fmla="*/ 0 h 149400"/>
                <a:gd name="textAreaBottom" fmla="*/ 150120 h 149400"/>
              </a:gdLst>
              <a:ahLst/>
              <a:cxnLst/>
              <a:rect l="textAreaLeft" t="textAreaTop" r="textAreaRight" b="textAreaBottom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0">
              <a:gsLst>
                <a:gs pos="0">
                  <a:srgbClr val="FFC4E1">
                    <a:alpha val="0"/>
                  </a:srgbClr>
                </a:gs>
                <a:gs pos="25000">
                  <a:srgbClr val="C4FBFF"/>
                </a:gs>
                <a:gs pos="50000">
                  <a:srgbClr val="DAFCFF"/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TextBox 9"/>
            <p:cNvSpPr/>
            <p:nvPr/>
          </p:nvSpPr>
          <p:spPr>
            <a:xfrm>
              <a:off x="1565280" y="1289160"/>
              <a:ext cx="16229880" cy="30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tIns="50760" rIns="50760" bIns="5076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76" name="Freeform 10"/>
          <p:cNvSpPr/>
          <p:nvPr/>
        </p:nvSpPr>
        <p:spPr>
          <a:xfrm>
            <a:off x="633240" y="575280"/>
            <a:ext cx="2130840" cy="1004040"/>
          </a:xfrm>
          <a:custGeom>
            <a:avLst/>
            <a:gdLst>
              <a:gd name="textAreaLeft" fmla="*/ 0 w 2130840"/>
              <a:gd name="textAreaRight" fmla="*/ 2131560 w 2130840"/>
              <a:gd name="textAreaTop" fmla="*/ 0 h 1004040"/>
              <a:gd name="textAreaBottom" fmla="*/ 1004760 h 1004040"/>
            </a:gdLst>
            <a:ahLst/>
            <a:cxnLst/>
            <a:rect l="textAreaLeft" t="textAreaTop" r="textAreaRight" b="textAreaBottom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Freeform 11"/>
          <p:cNvSpPr/>
          <p:nvPr/>
        </p:nvSpPr>
        <p:spPr>
          <a:xfrm>
            <a:off x="15978600" y="-269280"/>
            <a:ext cx="2475000" cy="2475000"/>
          </a:xfrm>
          <a:custGeom>
            <a:avLst/>
            <a:gdLst>
              <a:gd name="textAreaLeft" fmla="*/ 0 w 2475000"/>
              <a:gd name="textAreaRight" fmla="*/ 2475720 w 2475000"/>
              <a:gd name="textAreaTop" fmla="*/ 0 h 2475000"/>
              <a:gd name="textAreaBottom" fmla="*/ 2475720 h 2475000"/>
            </a:gdLst>
            <a:ahLst/>
            <a:cxnLst/>
            <a:rect l="textAreaLeft" t="textAreaTop" r="textAreaRight" b="textAreaBottom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593000" y="3701880"/>
            <a:ext cx="15143400" cy="10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A fully working platform where users register, get AI-ranked compatible skill-swap partners, 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exchange requests,  and earn verified skill badges.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12"/>
          <p:cNvSpPr/>
          <p:nvPr/>
        </p:nvSpPr>
        <p:spPr>
          <a:xfrm>
            <a:off x="1565280" y="5928840"/>
            <a:ext cx="13073400" cy="10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Users learn new skills at zero cost, build credibility through verified badges, and 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connect with compatible peers — removing the barrier of expensive courses.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13"/>
          <p:cNvSpPr/>
          <p:nvPr/>
        </p:nvSpPr>
        <p:spPr>
          <a:xfrm>
            <a:off x="1578240" y="8052480"/>
            <a:ext cx="13071240" cy="10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Democratises skill-sharing for millions of students and professionals globally — 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especially those in tier-2/3 cities with limited access to quality coaching.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Freeform 2"/>
          <p:cNvSpPr/>
          <p:nvPr/>
        </p:nvSpPr>
        <p:spPr>
          <a:xfrm>
            <a:off x="0" y="0"/>
            <a:ext cx="18287280" cy="10286280"/>
          </a:xfrm>
          <a:custGeom>
            <a:avLst/>
            <a:gdLst>
              <a:gd name="textAreaLeft" fmla="*/ 0 w 18287280"/>
              <a:gd name="textAreaRight" fmla="*/ 18288000 w 18287280"/>
              <a:gd name="textAreaTop" fmla="*/ 0 h 10286280"/>
              <a:gd name="textAreaBottom" fmla="*/ 10287000 h 1028628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3"/>
          <p:cNvSpPr/>
          <p:nvPr/>
        </p:nvSpPr>
        <p:spPr>
          <a:xfrm>
            <a:off x="4503600" y="331200"/>
            <a:ext cx="983592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6999"/>
              </a:lnSpc>
            </a:pPr>
            <a:r>
              <a:rPr lang="en-US" sz="5000" b="1" u="none" spc="-400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FUTURE  SCOPE  AND  CONCLUSION</a:t>
            </a:r>
            <a:endParaRPr lang="en-IN" sz="5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4"/>
          <p:cNvSpPr/>
          <p:nvPr/>
        </p:nvSpPr>
        <p:spPr>
          <a:xfrm>
            <a:off x="901440" y="2642760"/>
            <a:ext cx="604440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Future improvements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5"/>
          <p:cNvSpPr/>
          <p:nvPr/>
        </p:nvSpPr>
        <p:spPr>
          <a:xfrm>
            <a:off x="901440" y="7455600"/>
            <a:ext cx="582336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Scalability of the project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6"/>
          <p:cNvSpPr/>
          <p:nvPr/>
        </p:nvSpPr>
        <p:spPr>
          <a:xfrm>
            <a:off x="901440" y="5041800"/>
            <a:ext cx="508572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734040" lvl="1" indent="-367200" defTabSz="914400">
              <a:lnSpc>
                <a:spcPts val="4759"/>
              </a:lnSpc>
              <a:buClr>
                <a:srgbClr val="FFFFFF"/>
              </a:buClr>
              <a:buFont typeface="Arial"/>
              <a:buChar char="•"/>
            </a:pPr>
            <a:r>
              <a:rPr lang="en-US" sz="34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Final summary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6" name="Group 7"/>
          <p:cNvGrpSpPr/>
          <p:nvPr/>
        </p:nvGrpSpPr>
        <p:grpSpPr>
          <a:xfrm>
            <a:off x="1136160" y="1271520"/>
            <a:ext cx="16229880" cy="301680"/>
            <a:chOff x="1136160" y="1271520"/>
            <a:chExt cx="16229880" cy="301680"/>
          </a:xfrm>
        </p:grpSpPr>
        <p:sp>
          <p:nvSpPr>
            <p:cNvPr id="187" name="Freeform 8"/>
            <p:cNvSpPr/>
            <p:nvPr/>
          </p:nvSpPr>
          <p:spPr>
            <a:xfrm>
              <a:off x="1136160" y="1423800"/>
              <a:ext cx="16229880" cy="149400"/>
            </a:xfrm>
            <a:custGeom>
              <a:avLst/>
              <a:gdLst>
                <a:gd name="textAreaLeft" fmla="*/ 0 w 16229880"/>
                <a:gd name="textAreaRight" fmla="*/ 16230600 w 16229880"/>
                <a:gd name="textAreaTop" fmla="*/ 0 h 149400"/>
                <a:gd name="textAreaBottom" fmla="*/ 150120 h 149400"/>
              </a:gdLst>
              <a:ahLst/>
              <a:cxnLst/>
              <a:rect l="textAreaLeft" t="textAreaTop" r="textAreaRight" b="textAreaBottom"/>
              <a:pathLst>
                <a:path w="4052983" h="37450">
                  <a:moveTo>
                    <a:pt x="0" y="0"/>
                  </a:moveTo>
                  <a:lnTo>
                    <a:pt x="4052983" y="0"/>
                  </a:lnTo>
                  <a:lnTo>
                    <a:pt x="4052983" y="37450"/>
                  </a:lnTo>
                  <a:lnTo>
                    <a:pt x="0" y="37450"/>
                  </a:lnTo>
                  <a:close/>
                </a:path>
              </a:pathLst>
            </a:custGeom>
            <a:gradFill rotWithShape="0">
              <a:gsLst>
                <a:gs pos="0">
                  <a:srgbClr val="FFC4E1">
                    <a:alpha val="0"/>
                  </a:srgbClr>
                </a:gs>
                <a:gs pos="25000">
                  <a:srgbClr val="C4FBFF"/>
                </a:gs>
                <a:gs pos="50000">
                  <a:srgbClr val="DAFCFF"/>
                </a:gs>
                <a:gs pos="75000">
                  <a:srgbClr val="C4FBFF">
                    <a:alpha val="60000"/>
                  </a:srgbClr>
                </a:gs>
                <a:gs pos="100000">
                  <a:srgbClr val="FFC4E1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" name="TextBox 9"/>
            <p:cNvSpPr/>
            <p:nvPr/>
          </p:nvSpPr>
          <p:spPr>
            <a:xfrm>
              <a:off x="1136160" y="1271520"/>
              <a:ext cx="16229880" cy="30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tIns="50760" rIns="50760" bIns="50760" anchor="ctr">
              <a:noAutofit/>
            </a:bodyPr>
            <a:p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89" name="Freeform 10"/>
          <p:cNvSpPr/>
          <p:nvPr/>
        </p:nvSpPr>
        <p:spPr>
          <a:xfrm>
            <a:off x="633240" y="575280"/>
            <a:ext cx="2130840" cy="1004040"/>
          </a:xfrm>
          <a:custGeom>
            <a:avLst/>
            <a:gdLst>
              <a:gd name="textAreaLeft" fmla="*/ 0 w 2130840"/>
              <a:gd name="textAreaRight" fmla="*/ 2131560 w 2130840"/>
              <a:gd name="textAreaTop" fmla="*/ 0 h 1004040"/>
              <a:gd name="textAreaBottom" fmla="*/ 1004760 h 1004040"/>
            </a:gdLst>
            <a:ahLst/>
            <a:cxnLst/>
            <a:rect l="textAreaLeft" t="textAreaTop" r="textAreaRight" b="textAreaBottom"/>
            <a:pathLst>
              <a:path w="2131575" h="1004833">
                <a:moveTo>
                  <a:pt x="0" y="0"/>
                </a:moveTo>
                <a:lnTo>
                  <a:pt x="2131575" y="0"/>
                </a:lnTo>
                <a:lnTo>
                  <a:pt x="2131575" y="1004833"/>
                </a:lnTo>
                <a:lnTo>
                  <a:pt x="0" y="10048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Freeform 11"/>
          <p:cNvSpPr/>
          <p:nvPr/>
        </p:nvSpPr>
        <p:spPr>
          <a:xfrm>
            <a:off x="15978600" y="-269280"/>
            <a:ext cx="2475000" cy="2475000"/>
          </a:xfrm>
          <a:custGeom>
            <a:avLst/>
            <a:gdLst>
              <a:gd name="textAreaLeft" fmla="*/ 0 w 2475000"/>
              <a:gd name="textAreaRight" fmla="*/ 2475720 w 2475000"/>
              <a:gd name="textAreaTop" fmla="*/ 0 h 2475000"/>
              <a:gd name="textAreaBottom" fmla="*/ 2475720 h 2475000"/>
            </a:gdLst>
            <a:ahLst/>
            <a:cxnLst/>
            <a:rect l="textAreaLeft" t="textAreaTop" r="textAreaRight" b="textAreaBottom"/>
            <a:pathLst>
              <a:path w="2475692" h="2475692">
                <a:moveTo>
                  <a:pt x="0" y="0"/>
                </a:moveTo>
                <a:lnTo>
                  <a:pt x="2475692" y="0"/>
                </a:lnTo>
                <a:lnTo>
                  <a:pt x="2475692" y="2475692"/>
                </a:lnTo>
                <a:lnTo>
                  <a:pt x="0" y="247569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1"/>
          <p:cNvSpPr/>
          <p:nvPr/>
        </p:nvSpPr>
        <p:spPr>
          <a:xfrm>
            <a:off x="1607400" y="3348000"/>
            <a:ext cx="16113600" cy="10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Future: Real-time chat between matched users, video session scheduling, group skill-swap rooms, 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mobile app (React Native), and OAuth login.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12"/>
          <p:cNvSpPr/>
          <p:nvPr/>
        </p:nvSpPr>
        <p:spPr>
          <a:xfrm>
            <a:off x="1533960" y="5781240"/>
            <a:ext cx="15555960" cy="10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SkillSwap Board proves that AI + peer-to-peer collaboration can make quality learning free and 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accessible — built in 24 hours by Team Cagey Cryptics at HackMatrix 2026.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13"/>
          <p:cNvSpPr/>
          <p:nvPr/>
        </p:nvSpPr>
        <p:spPr>
          <a:xfrm>
            <a:off x="1533960" y="8170560"/>
            <a:ext cx="12972960" cy="10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Scalability: Replace JSON storage with PostgreSQL, deploy on cloud (AWS/GCP), 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100" b="1" u="none" spc="-272" strike="noStrike">
                <a:solidFill>
                  <a:srgbClr val="FFFFFF"/>
                </a:solidFill>
                <a:effectLst/>
                <a:uFillTx/>
                <a:latin typeface="Times New Roman Bold"/>
                <a:ea typeface="Times New Roman Bold"/>
              </a:rPr>
              <a:t>add caching for AI responses, and support thousands of concurrent users.</a:t>
            </a:r>
            <a:endParaRPr lang="en-IN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</TotalTime>
  <Application>LibreOffice/26.2.1.2$Linux_X86_64 LibreOffice_project/620$Build-2</Application>
  <AppVersion>15.0000</AppVersion>
  <Words>1248</Words>
  <Paragraphs>118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en-IN</dc:language>
  <cp:lastModifiedBy/>
  <dcterms:modified xsi:type="dcterms:W3CDTF">2026-04-02T13:59:20Z</dcterms:modified>
  <cp:revision>29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10</vt:i4>
  </property>
</Properties>
</file>